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48" d="100"/>
          <a:sy n="48" d="100"/>
        </p:scale>
        <p:origin x="53" y="8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776149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11338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411480" y="603504"/>
            <a:ext cx="2690622" cy="5413248"/>
          </a:xfrm>
          <a:prstGeom prst="roundRect">
            <a:avLst>
              <a:gd name="adj" fmla="val 2039"/>
            </a:avLst>
          </a:prstGeom>
          <a:solidFill>
            <a:srgbClr val="FFFFFF"/>
          </a:solidFill>
          <a:ln w="1397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603504"/>
            <a:ext cx="2690622" cy="530352"/>
          </a:xfrm>
          <a:prstGeom prst="rect">
            <a:avLst/>
          </a:prstGeom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5" name="Text 3"/>
          <p:cNvSpPr/>
          <p:nvPr/>
        </p:nvSpPr>
        <p:spPr>
          <a:xfrm>
            <a:off x="502920" y="685800"/>
            <a:ext cx="250774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 Benchmark &amp; Setup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594360" y="1559052"/>
            <a:ext cx="2324862" cy="1124712"/>
          </a:xfrm>
          <a:prstGeom prst="roundRect">
            <a:avLst>
              <a:gd name="adj" fmla="val 3252"/>
            </a:avLst>
          </a:prstGeom>
          <a:solidFill>
            <a:srgbClr val="F7F9FC"/>
          </a:solidFill>
          <a:ln w="11430">
            <a:solidFill>
              <a:srgbClr val="6C768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22376" y="1677924"/>
            <a:ext cx="206883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Frozen Benchmark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22376" y="1997964"/>
            <a:ext cx="206883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 smtClean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800-item </a:t>
            </a:r>
            <a:r>
              <a:rPr lang="en-US" sz="1150" dirty="0" err="1" smtClean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AlignSec</a:t>
            </a:r>
            <a:r>
              <a:rPr lang="en-US" sz="1150" dirty="0" smtClean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v4 benchmark for each model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1756791" y="2720340"/>
            <a:ext cx="0" cy="228600"/>
          </a:xfrm>
          <a:prstGeom prst="line">
            <a:avLst/>
          </a:prstGeom>
          <a:noFill/>
          <a:ln w="15240">
            <a:solidFill>
              <a:srgbClr val="333333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594360" y="3003804"/>
            <a:ext cx="2324862" cy="1124712"/>
          </a:xfrm>
          <a:prstGeom prst="roundRect">
            <a:avLst>
              <a:gd name="adj" fmla="val 3252"/>
            </a:avLst>
          </a:prstGeom>
          <a:solidFill>
            <a:srgbClr val="FFFFFF"/>
          </a:solidFill>
          <a:ln w="11430">
            <a:solidFill>
              <a:srgbClr val="6C768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22376" y="3122676"/>
            <a:ext cx="206883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Verification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722376" y="3442716"/>
            <a:ext cx="206883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 smtClean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</a:t>
            </a:r>
            <a:r>
              <a:rPr lang="en-US" sz="115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 file, schema and </a:t>
            </a:r>
            <a:r>
              <a:rPr lang="en-US" sz="1150" dirty="0" smtClean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integrity </a:t>
            </a:r>
            <a:r>
              <a:rPr lang="en-US" sz="115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metadata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1756791" y="4165092"/>
            <a:ext cx="0" cy="228600"/>
          </a:xfrm>
          <a:prstGeom prst="line">
            <a:avLst/>
          </a:prstGeom>
          <a:noFill/>
          <a:ln w="15240">
            <a:solidFill>
              <a:srgbClr val="333333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94360" y="4448556"/>
            <a:ext cx="2324862" cy="1124712"/>
          </a:xfrm>
          <a:prstGeom prst="roundRect">
            <a:avLst>
              <a:gd name="adj" fmla="val 3252"/>
            </a:avLst>
          </a:prstGeom>
          <a:solidFill>
            <a:srgbClr val="F7F9FC"/>
          </a:solidFill>
          <a:ln w="11430">
            <a:solidFill>
              <a:srgbClr val="6C768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22376" y="4567428"/>
            <a:ext cx="206883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Construction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722376" y="4887468"/>
            <a:ext cx="206883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r>
              <a:rPr lang="en-US" sz="1150" dirty="0" smtClean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rotected </a:t>
            </a:r>
            <a:r>
              <a:rPr lang="en-US" sz="115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+ canary + attack or benign request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303270" y="603504"/>
            <a:ext cx="2690622" cy="5413248"/>
          </a:xfrm>
          <a:prstGeom prst="roundRect">
            <a:avLst>
              <a:gd name="adj" fmla="val 2039"/>
            </a:avLst>
          </a:prstGeom>
          <a:solidFill>
            <a:srgbClr val="FFFFFF"/>
          </a:solidFill>
          <a:ln w="13970">
            <a:solidFill>
              <a:srgbClr val="33333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303270" y="603504"/>
            <a:ext cx="2690622" cy="530352"/>
          </a:xfrm>
          <a:prstGeom prst="rect">
            <a:avLst/>
          </a:prstGeom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Text 17"/>
          <p:cNvSpPr/>
          <p:nvPr/>
        </p:nvSpPr>
        <p:spPr>
          <a:xfrm>
            <a:off x="3394710" y="685800"/>
            <a:ext cx="250774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 Inference &amp; Logging</a:t>
            </a:r>
            <a:endParaRPr lang="en-US" sz="1750" dirty="0"/>
          </a:p>
        </p:txBody>
      </p:sp>
      <p:sp>
        <p:nvSpPr>
          <p:cNvPr id="20" name="Shape 18"/>
          <p:cNvSpPr/>
          <p:nvPr/>
        </p:nvSpPr>
        <p:spPr>
          <a:xfrm>
            <a:off x="3486150" y="1938528"/>
            <a:ext cx="2324862" cy="1389888"/>
          </a:xfrm>
          <a:prstGeom prst="roundRect">
            <a:avLst>
              <a:gd name="adj" fmla="val 2632"/>
            </a:avLst>
          </a:prstGeom>
          <a:solidFill>
            <a:srgbClr val="F7F9FC"/>
          </a:solidFill>
          <a:ln w="11430">
            <a:solidFill>
              <a:srgbClr val="6C768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14166" y="2057400"/>
            <a:ext cx="206883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Inference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3614166" y="2377440"/>
            <a:ext cx="2068830" cy="8595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the </a:t>
            </a:r>
            <a:r>
              <a:rPr lang="en-US" sz="1150" dirty="0" smtClean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instruction-tuned </a:t>
            </a:r>
            <a:r>
              <a:rPr lang="en-US" sz="115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with </a:t>
            </a:r>
            <a:r>
              <a:rPr lang="en-US" sz="1150" dirty="0" smtClean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 inference </a:t>
            </a:r>
            <a:r>
              <a:rPr lang="en-US" sz="115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settings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648581" y="3364992"/>
            <a:ext cx="0" cy="384048"/>
          </a:xfrm>
          <a:prstGeom prst="line">
            <a:avLst/>
          </a:prstGeom>
          <a:noFill/>
          <a:ln w="15240">
            <a:solidFill>
              <a:srgbClr val="333333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3486150" y="3803904"/>
            <a:ext cx="2324862" cy="1389888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11430">
            <a:solidFill>
              <a:srgbClr val="6C768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14166" y="3922776"/>
            <a:ext cx="206883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 Logging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3614166" y="4242816"/>
            <a:ext cx="2068830" cy="8595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Preserve </a:t>
            </a:r>
            <a:r>
              <a:rPr lang="en-US" sz="1150" dirty="0" smtClean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</a:t>
            </a:r>
            <a:r>
              <a:rPr lang="en-US" sz="115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prompt/model ID, language, canary and latency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195060" y="603504"/>
            <a:ext cx="2690622" cy="5413248"/>
          </a:xfrm>
          <a:prstGeom prst="roundRect">
            <a:avLst>
              <a:gd name="adj" fmla="val 2039"/>
            </a:avLst>
          </a:prstGeom>
          <a:solidFill>
            <a:srgbClr val="FFFFFF"/>
          </a:solidFill>
          <a:ln w="13970">
            <a:solidFill>
              <a:srgbClr val="33333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195060" y="603504"/>
            <a:ext cx="2690622" cy="530352"/>
          </a:xfrm>
          <a:prstGeom prst="rect">
            <a:avLst/>
          </a:prstGeom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9" name="Text 27"/>
          <p:cNvSpPr/>
          <p:nvPr/>
        </p:nvSpPr>
        <p:spPr>
          <a:xfrm>
            <a:off x="6286500" y="685800"/>
            <a:ext cx="250774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 Detection &amp; Eligibility</a:t>
            </a:r>
            <a:endParaRPr lang="en-US" sz="1750" dirty="0"/>
          </a:p>
        </p:txBody>
      </p:sp>
      <p:sp>
        <p:nvSpPr>
          <p:cNvPr id="30" name="Shape 28"/>
          <p:cNvSpPr/>
          <p:nvPr/>
        </p:nvSpPr>
        <p:spPr>
          <a:xfrm>
            <a:off x="6377940" y="1559052"/>
            <a:ext cx="2324862" cy="1124712"/>
          </a:xfrm>
          <a:prstGeom prst="roundRect">
            <a:avLst>
              <a:gd name="adj" fmla="val 3252"/>
            </a:avLst>
          </a:prstGeom>
          <a:solidFill>
            <a:srgbClr val="F7F9FC"/>
          </a:solidFill>
          <a:ln w="11430">
            <a:solidFill>
              <a:srgbClr val="6C768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05956" y="1677924"/>
            <a:ext cx="206883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Exact-Canary Detection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6505956" y="1997964"/>
            <a:ext cx="206883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Minimal normalization + exact assigned-canary containment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7540371" y="2720340"/>
            <a:ext cx="0" cy="228600"/>
          </a:xfrm>
          <a:prstGeom prst="line">
            <a:avLst/>
          </a:prstGeom>
          <a:noFill/>
          <a:ln w="15240">
            <a:solidFill>
              <a:srgbClr val="333333"/>
            </a:solidFill>
            <a:prstDash val="solid"/>
            <a:headEnd type="none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6377940" y="3003804"/>
            <a:ext cx="2324862" cy="1124712"/>
          </a:xfrm>
          <a:prstGeom prst="roundRect">
            <a:avLst>
              <a:gd name="adj" fmla="val 3252"/>
            </a:avLst>
          </a:prstGeom>
          <a:solidFill>
            <a:srgbClr val="FFFFFF"/>
          </a:solidFill>
          <a:ln w="11430">
            <a:solidFill>
              <a:srgbClr val="6C768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05956" y="3122676"/>
            <a:ext cx="206883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Attack / Benign Split</a:t>
            </a:r>
            <a:endParaRPr lang="en-US" sz="1450" dirty="0"/>
          </a:p>
        </p:txBody>
      </p:sp>
      <p:sp>
        <p:nvSpPr>
          <p:cNvPr id="36" name="Text 34"/>
          <p:cNvSpPr/>
          <p:nvPr/>
        </p:nvSpPr>
        <p:spPr>
          <a:xfrm>
            <a:off x="6505956" y="3442716"/>
            <a:ext cx="206883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 disclosure according to </a:t>
            </a:r>
            <a:r>
              <a:rPr lang="en-US" sz="1150" dirty="0" smtClean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</a:t>
            </a:r>
            <a:r>
              <a:rPr lang="en-US" sz="115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7540371" y="4165092"/>
            <a:ext cx="0" cy="228600"/>
          </a:xfrm>
          <a:prstGeom prst="line">
            <a:avLst/>
          </a:prstGeom>
          <a:noFill/>
          <a:ln w="15240">
            <a:solidFill>
              <a:srgbClr val="333333"/>
            </a:solidFill>
            <a:prstDash val="solid"/>
            <a:headEnd type="none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6377940" y="4448556"/>
            <a:ext cx="2324862" cy="1124712"/>
          </a:xfrm>
          <a:prstGeom prst="roundRect">
            <a:avLst>
              <a:gd name="adj" fmla="val 3252"/>
            </a:avLst>
          </a:prstGeom>
          <a:solidFill>
            <a:srgbClr val="F7F9FC"/>
          </a:solidFill>
          <a:ln w="11430">
            <a:solidFill>
              <a:srgbClr val="6C768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505956" y="4567428"/>
            <a:ext cx="206883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Benign-Clean Screen</a:t>
            </a:r>
            <a:endParaRPr lang="en-US" sz="1450" dirty="0"/>
          </a:p>
        </p:txBody>
      </p:sp>
      <p:sp>
        <p:nvSpPr>
          <p:cNvPr id="40" name="Text 38"/>
          <p:cNvSpPr/>
          <p:nvPr/>
        </p:nvSpPr>
        <p:spPr>
          <a:xfrm>
            <a:off x="6505956" y="4887468"/>
            <a:ext cx="206883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comparison requires 0 observed benign leaks and 0 invalid outputs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9086850" y="603504"/>
            <a:ext cx="2690622" cy="5413248"/>
          </a:xfrm>
          <a:prstGeom prst="roundRect">
            <a:avLst>
              <a:gd name="adj" fmla="val 2039"/>
            </a:avLst>
          </a:prstGeom>
          <a:solidFill>
            <a:srgbClr val="FFFFFF"/>
          </a:solidFill>
          <a:ln w="13970">
            <a:solidFill>
              <a:srgbClr val="333333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9086850" y="603504"/>
            <a:ext cx="2690622" cy="530352"/>
          </a:xfrm>
          <a:prstGeom prst="rect">
            <a:avLst/>
          </a:prstGeom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3" name="Text 41"/>
          <p:cNvSpPr/>
          <p:nvPr/>
        </p:nvSpPr>
        <p:spPr>
          <a:xfrm>
            <a:off x="9178290" y="685800"/>
            <a:ext cx="250774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 Analysis &amp; Outputs</a:t>
            </a:r>
            <a:endParaRPr lang="en-US" sz="1750" dirty="0"/>
          </a:p>
        </p:txBody>
      </p:sp>
      <p:sp>
        <p:nvSpPr>
          <p:cNvPr id="44" name="Shape 42"/>
          <p:cNvSpPr/>
          <p:nvPr/>
        </p:nvSpPr>
        <p:spPr>
          <a:xfrm>
            <a:off x="9269730" y="1559052"/>
            <a:ext cx="2324862" cy="1124712"/>
          </a:xfrm>
          <a:prstGeom prst="roundRect">
            <a:avLst>
              <a:gd name="adj" fmla="val 3252"/>
            </a:avLst>
          </a:prstGeom>
          <a:solidFill>
            <a:srgbClr val="F7F9FC"/>
          </a:solidFill>
          <a:ln w="11430">
            <a:solidFill>
              <a:srgbClr val="6C768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397746" y="1677924"/>
            <a:ext cx="206883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 Computation</a:t>
            </a:r>
            <a:endParaRPr lang="en-US" sz="1450" dirty="0"/>
          </a:p>
        </p:txBody>
      </p:sp>
      <p:sp>
        <p:nvSpPr>
          <p:cNvPr id="46" name="Text 44"/>
          <p:cNvSpPr/>
          <p:nvPr/>
        </p:nvSpPr>
        <p:spPr>
          <a:xfrm>
            <a:off x="9397746" y="1997964"/>
            <a:ext cx="206883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ASR, benign leak rate, robustness, CLIRS and category </a:t>
            </a:r>
            <a:r>
              <a:rPr lang="en-US" sz="1150" dirty="0" smtClean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ASR</a:t>
            </a:r>
            <a:endParaRPr 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10432161" y="2720340"/>
            <a:ext cx="0" cy="228600"/>
          </a:xfrm>
          <a:prstGeom prst="line">
            <a:avLst/>
          </a:prstGeom>
          <a:noFill/>
          <a:ln w="15240">
            <a:solidFill>
              <a:srgbClr val="333333"/>
            </a:solidFill>
            <a:prstDash val="solid"/>
            <a:headEnd type="none"/>
            <a:tailEnd type="triangle"/>
          </a:ln>
        </p:spPr>
      </p:sp>
      <p:sp>
        <p:nvSpPr>
          <p:cNvPr id="48" name="Shape 46"/>
          <p:cNvSpPr/>
          <p:nvPr/>
        </p:nvSpPr>
        <p:spPr>
          <a:xfrm>
            <a:off x="9269730" y="3003804"/>
            <a:ext cx="2324862" cy="1124712"/>
          </a:xfrm>
          <a:prstGeom prst="roundRect">
            <a:avLst>
              <a:gd name="adj" fmla="val 3252"/>
            </a:avLst>
          </a:prstGeom>
          <a:solidFill>
            <a:srgbClr val="FFFFFF"/>
          </a:solidFill>
          <a:ln w="11430">
            <a:solidFill>
              <a:srgbClr val="6C768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397746" y="3122676"/>
            <a:ext cx="206883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Statistical Analysis</a:t>
            </a:r>
            <a:endParaRPr lang="en-US" sz="1450" dirty="0"/>
          </a:p>
        </p:txBody>
      </p:sp>
      <p:sp>
        <p:nvSpPr>
          <p:cNvPr id="50" name="Text 48"/>
          <p:cNvSpPr/>
          <p:nvPr/>
        </p:nvSpPr>
        <p:spPr>
          <a:xfrm>
            <a:off x="9397746" y="3442716"/>
            <a:ext cx="206883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Wilson CIs, paired McNemar tests, FDR correction, </a:t>
            </a:r>
            <a:r>
              <a:rPr lang="en-US" sz="1150" dirty="0" smtClean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bootstrap/sign-flip </a:t>
            </a:r>
            <a:r>
              <a:rPr lang="en-US" sz="115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</a:t>
            </a:r>
            <a:endParaRPr lang="en-US" sz="1150" dirty="0"/>
          </a:p>
        </p:txBody>
      </p:sp>
      <p:sp>
        <p:nvSpPr>
          <p:cNvPr id="51" name="Shape 49"/>
          <p:cNvSpPr/>
          <p:nvPr/>
        </p:nvSpPr>
        <p:spPr>
          <a:xfrm>
            <a:off x="10432161" y="4165092"/>
            <a:ext cx="0" cy="228600"/>
          </a:xfrm>
          <a:prstGeom prst="line">
            <a:avLst/>
          </a:prstGeom>
          <a:noFill/>
          <a:ln w="15240">
            <a:solidFill>
              <a:srgbClr val="333333"/>
            </a:solidFill>
            <a:prstDash val="solid"/>
            <a:headEnd type="none"/>
            <a:tailEnd type="triangle"/>
          </a:ln>
        </p:spPr>
      </p:sp>
      <p:sp>
        <p:nvSpPr>
          <p:cNvPr id="52" name="Shape 50"/>
          <p:cNvSpPr/>
          <p:nvPr/>
        </p:nvSpPr>
        <p:spPr>
          <a:xfrm>
            <a:off x="9269730" y="4448556"/>
            <a:ext cx="2324862" cy="1124712"/>
          </a:xfrm>
          <a:prstGeom prst="roundRect">
            <a:avLst>
              <a:gd name="adj" fmla="val 3252"/>
            </a:avLst>
          </a:prstGeom>
          <a:solidFill>
            <a:srgbClr val="F7F9FC"/>
          </a:solidFill>
          <a:ln w="11430">
            <a:solidFill>
              <a:srgbClr val="6C768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397746" y="4567428"/>
            <a:ext cx="206883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Reproducibility Artifacts</a:t>
            </a:r>
            <a:endParaRPr lang="en-US" sz="1450" dirty="0"/>
          </a:p>
        </p:txBody>
      </p:sp>
      <p:sp>
        <p:nvSpPr>
          <p:cNvPr id="54" name="Text 52"/>
          <p:cNvSpPr/>
          <p:nvPr/>
        </p:nvSpPr>
        <p:spPr>
          <a:xfrm>
            <a:off x="9397746" y="4887468"/>
            <a:ext cx="206883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CSV tables, PDF figures, notebooks, provenance, checksums and manifests</a:t>
            </a:r>
            <a:endParaRPr lang="en-US" sz="1150" dirty="0"/>
          </a:p>
        </p:txBody>
      </p:sp>
      <p:sp>
        <p:nvSpPr>
          <p:cNvPr id="55" name="Shape 53"/>
          <p:cNvSpPr/>
          <p:nvPr/>
        </p:nvSpPr>
        <p:spPr>
          <a:xfrm>
            <a:off x="3120390" y="3310128"/>
            <a:ext cx="164592" cy="0"/>
          </a:xfrm>
          <a:prstGeom prst="line">
            <a:avLst/>
          </a:prstGeom>
          <a:noFill/>
          <a:ln w="22860">
            <a:solidFill>
              <a:srgbClr val="333333"/>
            </a:solidFill>
            <a:prstDash val="solid"/>
            <a:headEnd type="none"/>
            <a:tailEnd type="triangle"/>
          </a:ln>
        </p:spPr>
      </p:sp>
      <p:sp>
        <p:nvSpPr>
          <p:cNvPr id="56" name="Shape 54"/>
          <p:cNvSpPr/>
          <p:nvPr/>
        </p:nvSpPr>
        <p:spPr>
          <a:xfrm>
            <a:off x="6012180" y="3310128"/>
            <a:ext cx="164592" cy="0"/>
          </a:xfrm>
          <a:prstGeom prst="line">
            <a:avLst/>
          </a:prstGeom>
          <a:noFill/>
          <a:ln w="22860">
            <a:solidFill>
              <a:srgbClr val="333333"/>
            </a:solidFill>
            <a:prstDash val="solid"/>
            <a:headEnd type="none"/>
            <a:tailEnd type="triangle"/>
          </a:ln>
        </p:spPr>
      </p:sp>
      <p:sp>
        <p:nvSpPr>
          <p:cNvPr id="57" name="Shape 55"/>
          <p:cNvSpPr/>
          <p:nvPr/>
        </p:nvSpPr>
        <p:spPr>
          <a:xfrm>
            <a:off x="8903970" y="3310128"/>
            <a:ext cx="164592" cy="0"/>
          </a:xfrm>
          <a:prstGeom prst="line">
            <a:avLst/>
          </a:prstGeom>
          <a:noFill/>
          <a:ln w="22860">
            <a:solidFill>
              <a:srgbClr val="333333"/>
            </a:solidFill>
            <a:prstDash val="solid"/>
            <a:headEnd type="none"/>
            <a:tailEnd type="triangle"/>
          </a:ln>
        </p:spPr>
      </p:sp>
      <p:sp>
        <p:nvSpPr>
          <p:cNvPr id="58" name="Text 56"/>
          <p:cNvSpPr/>
          <p:nvPr/>
        </p:nvSpPr>
        <p:spPr>
          <a:xfrm>
            <a:off x="640080" y="6236208"/>
            <a:ext cx="10927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Frozen inputs → deterministic inference → exact leakage measurement → paired/cluster-aware analysis → auditable release artifacts</a:t>
            </a:r>
            <a:endParaRPr lang="en-US" sz="1200" dirty="0">
              <a:solidFill>
                <a:schemeClr val="bg2">
                  <a:lumMod val="25000"/>
                </a:schemeClr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161</Words>
  <Application>Microsoft Office PowerPoint</Application>
  <PresentationFormat>Widescreen</PresentationFormat>
  <Paragraphs>28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AlignSec End-to-End Evaluation Workflow</dc:title>
  <dc:subject>Editable AlignSec end-to-end evaluation workflow diagram</dc:subject>
  <dc:creator>OpenAI</dc:creator>
  <cp:lastModifiedBy>Admin</cp:lastModifiedBy>
  <cp:revision>16</cp:revision>
  <dcterms:created xsi:type="dcterms:W3CDTF">2026-08-22T14:53:09Z</dcterms:created>
  <dcterms:modified xsi:type="dcterms:W3CDTF">2026-08-22T15:05:22Z</dcterms:modified>
</cp:coreProperties>
</file>